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AOSP Virtual Device Platform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C5"/>
                </a:solidFill>
                <a:latin typeface="Calibri"/>
              </a:rPr>
              <a:t>Cuttlefish vs Emulator  |  Automotive Tier-1 SDV Readiness Assessment  |  Based on Real AOSP Source Code</a:t>
            </a:r>
          </a:p>
        </p:txBody>
      </p:sp>
      <p:pic>
        <p:nvPicPr>
          <p:cNvPr id="6" name="Picture 5" descr="01_high_leve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7315200" cy="47026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097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1B2A"/>
                </a:solidFill>
                <a:latin typeface="Calibri"/>
              </a:rPr>
              <a:t>KEY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4173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200" b="1">
                <a:solidFill>
                  <a:srgbClr val="2E7D32"/>
                </a:solidFill>
                <a:latin typeface="Calibri"/>
              </a:rPr>
              <a:t>Cuttlefish: RECOMMENDED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Full AIDL v3 Vehicle HAL with gRPC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6-zone BUS audio (AAOS automotive)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RootCanal BT with HFP + A2DP + BLE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Real WiFi via mac80211_hwsim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WebRTC multi-display (headless CI)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Cloud-native, scalable architecture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600" b="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200" b="1">
                <a:solidFill>
                  <a:srgbClr val="C62828"/>
                </a:solidFill>
                <a:latin typeface="Calibri"/>
              </a:rPr>
              <a:t>Emulator: NOT VIABLE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Zero Vehicle HAL implementation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Single-zone audio (phone model)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SLIRP NAT (no real WiFi stack)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Single display, desktop-only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No AAOS build target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53949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</a:rPr>
              <a:t>OVERALL SCORES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5669280"/>
            <a:ext cx="1828800" cy="50292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7/10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61996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78909C"/>
                </a:solidFill>
                <a:latin typeface="Calibri"/>
              </a:rPr>
              <a:t>Cuttlefish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20" y="5669280"/>
            <a:ext cx="1828800" cy="502920"/>
          </a:xfrm>
          <a:prstGeom prst="roundRect">
            <a:avLst/>
          </a:prstGeom>
          <a:solidFill>
            <a:srgbClr val="C62828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2/10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61996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78909C"/>
                </a:solidFill>
                <a:latin typeface="Calibri"/>
              </a:rPr>
              <a:t>Emulator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5379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BEC5"/>
                </a:solidFill>
                <a:latin typeface="Calibri"/>
              </a:rPr>
              <a:t>Source: device/google/cuttlefish (1,965 files) | device/generic/goldfish (701 files) | hardware/interfaces (14,742 files)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Automotive HAL Functional Gap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  <a:latin typeface="Calibri"/>
              </a:rPr>
              <a:t>11 Functional Areas  |  Source Code-Based Scores  |  Tier-1 Action Items</a:t>
            </a:r>
          </a:p>
        </p:txBody>
      </p:sp>
      <p:pic>
        <p:nvPicPr>
          <p:cNvPr id="6" name="Picture 5" descr="02_automotive_ha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960120"/>
            <a:ext cx="8412480" cy="510757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32520" y="914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Calibri"/>
              </a:rPr>
              <a:t>GAP ANALYSIS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1234440"/>
            <a:ext cx="3291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1">
                <a:solidFill>
                  <a:srgbClr val="2E7D32"/>
                </a:solidFill>
                <a:latin typeface="Calibri"/>
              </a:rPr>
              <a:t>STRENGTHS (Cuttlefish)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  Vehicle HAL: 9/10 (AIDL v3 gRPC)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  Audio: 9/10 (6-zone BUS routing)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  WiFi: 9/10 (mac80211_hwsim)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  Bluetooth: 8/10 (RootCanal HFP)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  Graphics: 8/10 (multi-display)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500" b="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1">
                <a:solidFill>
                  <a:srgbClr val="C62828"/>
                </a:solidFill>
                <a:latin typeface="Calibri"/>
              </a:rPr>
              <a:t>GAPS TO ADDRESS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  Broadcast Radio: 2/10 (HAL missing)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  CAN Bus: 1/10 (no crosvm device)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  EVS: 1/10 (no surround-view)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  Digital TV: 0/10 (no ITuner impl)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  Sensors: 4/10 (no auto sensors)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500" b="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00" b="1">
                <a:solidFill>
                  <a:srgbClr val="4527A0"/>
                </a:solidFill>
                <a:latin typeface="Calibri"/>
              </a:rPr>
              <a:t>TIER-1 OPPORTUNITIES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  Build IBroadcastRadio for CF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  Bridge CAN via host SocketCAN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  Implement IEvsCamera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  Virtual DVB-T/ISDB-T tuner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 b="0">
                <a:solidFill>
                  <a:srgbClr val="1A1A2E"/>
                </a:solidFill>
                <a:latin typeface="Calibri"/>
              </a:rPr>
              <a:t>  Upstream contributions to AOSP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BEC5"/>
                </a:solidFill>
                <a:latin typeface="Calibri"/>
              </a:rPr>
              <a:t>Analysis based on cloned AOSP repos: cuttlefish, goldfish, hw_interfaces, crosvm, gfxstream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88952" cy="457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Strategic Roadmap: Automotive SDV Platform Investment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  <a:latin typeface="Calibri"/>
              </a:rPr>
              <a:t>Phased Approach  |  Tier-1 Value Creation  |  Risk Mitigation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005840"/>
            <a:ext cx="11612880" cy="640080"/>
          </a:xfrm>
          <a:prstGeom prst="roundRect">
            <a:avLst/>
          </a:prstGeom>
          <a:solidFill>
            <a:srgbClr val="C8E6C9"/>
          </a:solidFill>
          <a:ln w="381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E7D32"/>
                </a:solidFill>
                <a:latin typeface="Calibri"/>
              </a:rPr>
              <a:t>RECOMMENDATION: Adopt Cuttlefish as standard SDV development &amp; CI/CD platform. Invest in targeted extensions.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828800"/>
            <a:ext cx="3657600" cy="41148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1828800"/>
            <a:ext cx="3657600" cy="365760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IMMEDIATE (0-3 Months)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67712"/>
            <a:ext cx="3383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1A1A2E"/>
                </a:solidFill>
                <a:latin typeface="Calibri"/>
              </a:rPr>
              <a:t>Deploy Cuttlefish CI/CD Farm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 b="0">
                <a:solidFill>
                  <a:srgbClr val="78909C"/>
                </a:solidFill>
                <a:latin typeface="Calibri"/>
              </a:rPr>
              <a:t>  Cloud-based instances for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 b="0">
                <a:solidFill>
                  <a:srgbClr val="78909C"/>
                </a:solidFill>
                <a:latin typeface="Calibri"/>
              </a:rPr>
              <a:t>  automated AAOS testing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400" b="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1A1A2E"/>
                </a:solidFill>
                <a:latin typeface="Calibri"/>
              </a:rPr>
              <a:t>Extend VHAL Host Server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 b="0">
                <a:solidFill>
                  <a:srgbClr val="78909C"/>
                </a:solidFill>
                <a:latin typeface="Calibri"/>
              </a:rPr>
              <a:t>  OEM-specific vehicle properties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 b="0">
                <a:solidFill>
                  <a:srgbClr val="78909C"/>
                </a:solidFill>
                <a:latin typeface="Calibri"/>
              </a:rPr>
              <a:t>  for your vehicle platforms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400" b="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1A1A2E"/>
                </a:solidFill>
                <a:latin typeface="Calibri"/>
              </a:rPr>
              <a:t>CAN Bus Bridge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 b="0">
                <a:solidFill>
                  <a:srgbClr val="78909C"/>
                </a:solidFill>
                <a:latin typeface="Calibri"/>
              </a:rPr>
              <a:t>  Host SocketCAN to VHAL gRPC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 b="0">
                <a:solidFill>
                  <a:srgbClr val="78909C"/>
                </a:solidFill>
                <a:latin typeface="Calibri"/>
              </a:rPr>
              <a:t>  for HIL testing integration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400" b="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1A1A2E"/>
                </a:solidFill>
                <a:latin typeface="Calibri"/>
              </a:rPr>
              <a:t>Custom Audio Zones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 b="0">
                <a:solidFill>
                  <a:srgbClr val="78909C"/>
                </a:solidFill>
                <a:latin typeface="Calibri"/>
              </a:rPr>
              <a:t>  Rear-seat entertainment,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 b="0">
                <a:solidFill>
                  <a:srgbClr val="78909C"/>
                </a:solidFill>
                <a:latin typeface="Calibri"/>
              </a:rPr>
              <a:t>  amplifier DSP chain config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1828800"/>
            <a:ext cx="3657600" cy="4114800"/>
          </a:xfrm>
          <a:prstGeom prst="roundRect">
            <a:avLst/>
          </a:prstGeom>
          <a:solidFill>
            <a:srgbClr val="FFF9C4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069080" y="1828800"/>
            <a:ext cx="3657600" cy="365760"/>
          </a:xfrm>
          <a:prstGeom prst="roundRect">
            <a:avLst/>
          </a:prstGeom>
          <a:solidFill>
            <a:srgbClr val="E6510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MEDIUM-TERM (3-6 Months)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267712"/>
            <a:ext cx="3383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1A1A2E"/>
                </a:solidFill>
                <a:latin typeface="Calibri"/>
              </a:rPr>
              <a:t>Implement IBroadcastRadio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 b="0">
                <a:solidFill>
                  <a:srgbClr val="78909C"/>
                </a:solidFill>
                <a:latin typeface="Calibri"/>
              </a:rPr>
              <a:t>  Virtual FM/DAB tuner HAL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 b="0">
                <a:solidFill>
                  <a:srgbClr val="78909C"/>
                </a:solidFill>
                <a:latin typeface="Calibri"/>
              </a:rPr>
              <a:t>  Connect to fm_tuner source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400" b="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1A1A2E"/>
                </a:solidFill>
                <a:latin typeface="Calibri"/>
              </a:rPr>
              <a:t>Add EVS Support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 b="0">
                <a:solidFill>
                  <a:srgbClr val="78909C"/>
                </a:solidFill>
                <a:latin typeface="Calibri"/>
              </a:rPr>
              <a:t>  IEvsCamera with synthetic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 b="0">
                <a:solidFill>
                  <a:srgbClr val="78909C"/>
                </a:solidFill>
                <a:latin typeface="Calibri"/>
              </a:rPr>
              <a:t>  surround-view camera streams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400" b="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1A1A2E"/>
                </a:solidFill>
                <a:latin typeface="Calibri"/>
              </a:rPr>
              <a:t>UDS Diagnostic Simulator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 b="0">
                <a:solidFill>
                  <a:srgbClr val="78909C"/>
                </a:solidFill>
                <a:latin typeface="Calibri"/>
              </a:rPr>
              <a:t>  UDS/OBD-II service on host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 b="0">
                <a:solidFill>
                  <a:srgbClr val="78909C"/>
                </a:solidFill>
                <a:latin typeface="Calibri"/>
              </a:rPr>
              <a:t>  Accessible via VHAL properties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400" b="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1A1A2E"/>
                </a:solidFill>
                <a:latin typeface="Calibri"/>
              </a:rPr>
              <a:t>SOME/IP Gateway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 b="0">
                <a:solidFill>
                  <a:srgbClr val="78909C"/>
                </a:solidFill>
                <a:latin typeface="Calibri"/>
              </a:rPr>
              <a:t>  Service-oriented architecture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 b="0">
                <a:solidFill>
                  <a:srgbClr val="78909C"/>
                </a:solidFill>
                <a:latin typeface="Calibri"/>
              </a:rPr>
              <a:t>  for AUTOSAR Classic bridging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1828800"/>
            <a:ext cx="3657600" cy="4114800"/>
          </a:xfrm>
          <a:prstGeom prst="roundRect">
            <a:avLst/>
          </a:prstGeom>
          <a:solidFill>
            <a:srgbClr val="EDE7F6"/>
          </a:solidFill>
          <a:ln w="25400">
            <a:solidFill>
              <a:srgbClr val="452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863840" y="1828800"/>
            <a:ext cx="3657600" cy="365760"/>
          </a:xfrm>
          <a:prstGeom prst="roundRect">
            <a:avLst/>
          </a:prstGeom>
          <a:solidFill>
            <a:srgbClr val="4527A0"/>
          </a:solidFill>
          <a:ln w="12700">
            <a:solidFill>
              <a:srgbClr val="452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LONG-TERM (6-12 Months)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2267712"/>
            <a:ext cx="3383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1A1A2E"/>
                </a:solidFill>
                <a:latin typeface="Calibri"/>
              </a:rPr>
              <a:t>Upstream AOSP Contributions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 b="0">
                <a:solidFill>
                  <a:srgbClr val="78909C"/>
                </a:solidFill>
                <a:latin typeface="Calibri"/>
              </a:rPr>
              <a:t>  BroadcastRadio + CAN bus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 b="0">
                <a:solidFill>
                  <a:srgbClr val="78909C"/>
                </a:solidFill>
                <a:latin typeface="Calibri"/>
              </a:rPr>
              <a:t>  implementations to AOSP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400" b="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1A1A2E"/>
                </a:solidFill>
                <a:latin typeface="Calibri"/>
              </a:rPr>
              <a:t>Multi-Domain Simulation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 b="0">
                <a:solidFill>
                  <a:srgbClr val="78909C"/>
                </a:solidFill>
                <a:latin typeface="Calibri"/>
              </a:rPr>
              <a:t>  Cuttlefish + AUTOSAR Classic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 b="0">
                <a:solidFill>
                  <a:srgbClr val="78909C"/>
                </a:solidFill>
                <a:latin typeface="Calibri"/>
              </a:rPr>
              <a:t>  VM for full vehicle simulation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400" b="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1A1A2E"/>
                </a:solidFill>
                <a:latin typeface="Calibri"/>
              </a:rPr>
              <a:t>ITuner Implementation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 b="0">
                <a:solidFill>
                  <a:srgbClr val="78909C"/>
                </a:solidFill>
                <a:latin typeface="Calibri"/>
              </a:rPr>
              <a:t>  Virtual DVB-T/ISDB-T tuner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 b="0">
                <a:solidFill>
                  <a:srgbClr val="78909C"/>
                </a:solidFill>
                <a:latin typeface="Calibri"/>
              </a:rPr>
              <a:t>  for rear-seat entertainment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400" b="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1A1A2E"/>
                </a:solidFill>
                <a:latin typeface="Calibri"/>
              </a:rPr>
              <a:t>Digital Twin Integration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 b="0">
                <a:solidFill>
                  <a:srgbClr val="78909C"/>
                </a:solidFill>
                <a:latin typeface="Calibri"/>
              </a:rPr>
              <a:t>  Connect to CarMaker, CARLA,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 b="0">
                <a:solidFill>
                  <a:srgbClr val="78909C"/>
                </a:solidFill>
                <a:latin typeface="Calibri"/>
              </a:rPr>
              <a:t>  dSPACE simulation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989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2828"/>
                </a:solidFill>
                <a:latin typeface="Calibri"/>
              </a:rPr>
              <a:t>KEY RISKS: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59893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50" b="0">
                <a:solidFill>
                  <a:srgbClr val="1A1A2E"/>
                </a:solidFill>
                <a:latin typeface="Calibri"/>
              </a:rPr>
              <a:t>Missing HALs block testing (HIGH) -- Mitigate with prioritized Radio + CAN + EVS impl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50" b="0">
                <a:solidFill>
                  <a:srgbClr val="1A1A2E"/>
                </a:solidFill>
                <a:latin typeface="Calibri"/>
              </a:rPr>
              <a:t>AIDL interface changes (MED) -- Track AOSP main, maintain compatibility layer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6537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BEC5"/>
                </a:solidFill>
                <a:latin typeface="Calibri"/>
              </a:rPr>
              <a:t>Detailed analysis: AOSP_Cuttlefish_vs_Emulator_Automotive_SDV_v2.docx | draw.io diagrams provided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65379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B0BEC5"/>
                </a:solidFill>
                <a:latin typeface="Calibri"/>
              </a:rPr>
              <a:t>Automotive Tier-1 SDV Platform Assessment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